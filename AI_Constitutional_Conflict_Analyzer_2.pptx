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931920" cy="49971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73152"/>
            <a:ext cx="365760" cy="4997196"/>
          </a:xfrm>
          <a:prstGeom prst="rect">
            <a:avLst/>
          </a:prstGeom>
          <a:solidFill>
            <a:srgbClr val="2255A4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48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C97A"/>
                </a:solidFill>
              </a:rPr>
              <a:t>"We the People of India..."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Preamble, Constitution of India, 1950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310896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84C"/>
                </a:solidFill>
              </a:rPr>
              <a:t>⚖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Art. 25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(Religion)  vs  </a:t>
            </a:r>
            <a:pPr indent="0" marL="0">
              <a:buNone/>
            </a:pPr>
            <a:r>
              <a:rPr lang="en-US" sz="1000" b="1" dirty="0">
                <a:solidFill>
                  <a:srgbClr val="E8C97A"/>
                </a:solidFill>
              </a:rPr>
              <a:t>Art. 14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(Equality)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Art. 21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(Life)  vs  </a:t>
            </a:r>
            <a:pPr indent="0" marL="0">
              <a:buNone/>
            </a:pPr>
            <a:r>
              <a:rPr lang="en-US" sz="1000" b="1" dirty="0">
                <a:solidFill>
                  <a:srgbClr val="E8C97A"/>
                </a:solidFill>
              </a:rPr>
              <a:t>Art. 44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(Uniform Civil Code)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Art. 19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(Speech)  vs  </a:t>
            </a:r>
            <a:pPr indent="0" marL="0">
              <a:buNone/>
            </a:pPr>
            <a:r>
              <a:rPr lang="en-US" sz="1000" b="1" dirty="0">
                <a:solidFill>
                  <a:srgbClr val="E8C97A"/>
                </a:solidFill>
              </a:rPr>
              <a:t>Art. 21</a:t>
            </a:r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 (Dignity)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6118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8EBF2"/>
                </a:solidFill>
              </a:rPr>
              <a:t>75 years. Millions of conflicts.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E8EBF2"/>
                </a:solidFill>
              </a:rPr>
              <a:t>Zero AI-powered resolution tools.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822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</a:rPr>
              <a:t>AI CONSTITUTIONAL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251960" y="1508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100" kern="0" dirty="0">
                <a:solidFill>
                  <a:srgbClr val="C9A84C"/>
                </a:solidFill>
              </a:rPr>
              <a:t>CONFLICT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251960" y="21945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</a:rPr>
              <a:t>ANALYZER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4251960" y="3063240"/>
            <a:ext cx="43891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90D9"/>
                </a:solidFill>
              </a:rPr>
              <a:t>From Legal Search to Legal Intelligence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3703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AI-Powered · Knowledge Graph · Predictive Legal Reasoning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4663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Prachi Kumari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457200" y="10972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A3A6B"/>
                </a:solidFill>
              </a:rPr>
              <a:t>CONFLICT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Constitution protects everyone.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</a:rPr>
              <a:t>But what happens when rights clash?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51760" cy="2834640"/>
          </a:xfrm>
          <a:prstGeom prst="rect">
            <a:avLst/>
          </a:prstGeom>
          <a:solidFill>
            <a:srgbClr val="1A3A6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9339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Shah Bano Case (1985)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Art. 21 vs Personal Law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2423160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66928" y="29260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Muslim woman's right to maintenance vs religious personal law. Triggered nationwide conflict.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651760" cy="2834640"/>
          </a:xfrm>
          <a:prstGeom prst="rect">
            <a:avLst/>
          </a:prstGeom>
          <a:solidFill>
            <a:srgbClr val="1A3A6B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82880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99339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Sabarimala Case (2018)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248716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Art. 25 vs Art. 14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01568" y="2834640"/>
            <a:ext cx="242316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401568" y="29260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Religious practice vs women's right to equality. Supreme Court 4-1 majority created social upheaval.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651760" cy="2834640"/>
          </a:xfrm>
          <a:prstGeom prst="rect">
            <a:avLst/>
          </a:prstGeom>
          <a:solidFill>
            <a:srgbClr val="1A3A6B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82880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99339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Triple Talaq (2017)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487168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Art. 25 vs Art. 14 + 21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6208" y="2834640"/>
            <a:ext cx="2423160" cy="0"/>
          </a:xfrm>
          <a:prstGeom prst="line">
            <a:avLst/>
          </a:prstGeom>
          <a:noFill/>
          <a:ln w="6350">
            <a:solidFill>
              <a:srgbClr val="4A90D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236208" y="2926080"/>
            <a:ext cx="2432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Shayara Bano: Religious freedom vs dignity of Muslim women. Struck down 3-2 with 3 separate opinions.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Constitution's Greatest Paradox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01168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450+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Constitutional Articles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with potential conflicts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70,000+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20299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Supreme Court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cases involving rights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201168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0D9"/>
                </a:solidFill>
              </a:rPr>
              <a:t>5 Hrs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20299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Average manual research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time per conflict case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12280" y="1234440"/>
            <a:ext cx="201168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3716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20299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AI tools for conflict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detection today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1783080"/>
          </a:xfrm>
          <a:prstGeom prst="rect">
            <a:avLst/>
          </a:prstGeom>
          <a:solidFill>
            <a:srgbClr val="0D1A30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461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218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Fundamental rights often pull in opposite directions — no systematic methodology to resolve them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2461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18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Every landmark judgment resets legal precedent, but there's no intelligence layer to track 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044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Junior lawyers, researchers &amp; students lack tools to quickly map constitutional conflict patterns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9319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9044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Judicial inconsistency across High Courts creates predictability crises in constitutional law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EXISTING TOOLS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Current Tools Fail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</a:rPr>
              <a:t>Keyword Search ≠ Legal Reasoning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651760" cy="3337560"/>
          </a:xfrm>
          <a:prstGeom prst="rect">
            <a:avLst/>
          </a:prstGeom>
          <a:solidFill>
            <a:srgbClr val="1A3A6B"/>
          </a:solidFill>
          <a:ln w="12700">
            <a:solidFill>
              <a:srgbClr val="2255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002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Indian Kanoon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98424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Free Legal 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2286000"/>
            <a:ext cx="2423160" cy="0"/>
          </a:xfrm>
          <a:prstGeom prst="line">
            <a:avLst/>
          </a:prstGeom>
          <a:noFill/>
          <a:ln w="6350">
            <a:solidFill>
              <a:srgbClr val="225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BF2"/>
                </a:solidFill>
              </a:rPr>
              <a:t>Full-text keyword search only. Returns 10,000s of unranked results. No semantic understanding.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61188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✓ Find cases with keywords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904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Understand conflict context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651760" cy="3337560"/>
          </a:xfrm>
          <a:prstGeom prst="rect">
            <a:avLst/>
          </a:prstGeom>
          <a:solidFill>
            <a:srgbClr val="1A3A6B"/>
          </a:solidFill>
          <a:ln w="12700">
            <a:solidFill>
              <a:srgbClr val="2255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46304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6002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SCC Online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98424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Premium Database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2286000"/>
            <a:ext cx="2423160" cy="0"/>
          </a:xfrm>
          <a:prstGeom prst="line">
            <a:avLst/>
          </a:prstGeom>
          <a:noFill/>
          <a:ln w="6350">
            <a:solidFill>
              <a:srgbClr val="225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35915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BF2"/>
                </a:solidFill>
              </a:rPr>
              <a:t>Citation-based navigation. Premium paywalled. No conflict mapping or AI reasoning layer.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361188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✓ Access case texts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3904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Detect conflicting articles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463040"/>
            <a:ext cx="2651760" cy="3337560"/>
          </a:xfrm>
          <a:prstGeom prst="rect">
            <a:avLst/>
          </a:prstGeom>
          <a:solidFill>
            <a:srgbClr val="1A3A6B"/>
          </a:solidFill>
          <a:ln w="12700">
            <a:solidFill>
              <a:srgbClr val="2255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46304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6002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Manupatra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4768" y="198424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Legal Research Portal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2286000"/>
            <a:ext cx="2423160" cy="0"/>
          </a:xfrm>
          <a:prstGeom prst="line">
            <a:avLst/>
          </a:prstGeom>
          <a:noFill/>
          <a:ln w="6350">
            <a:solidFill>
              <a:srgbClr val="2255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35915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BF2"/>
                </a:solidFill>
              </a:rPr>
              <a:t>Template-based search. Strong database but zero machine reasoning or predictive capability.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361188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✓ Structured legal search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390448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Predict future conflicts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4997196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2255A4">
              <a:alpha val="2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822960"/>
            <a:ext cx="2011680" cy="20116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</a:rPr>
              <a:t>Introducing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Constitutional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Conflict Analyzer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32918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C97A"/>
                </a:solidFill>
              </a:rPr>
              <a:t>The first AI system that doesn't just search law 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E8C97A"/>
                </a:solidFill>
              </a:rPr>
              <a:t>it understands, reasons, and predicts constitutional conflicts.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73736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17373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Detect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BF2"/>
                </a:solidFill>
              </a:rPr>
              <a:t>Article Conflicts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73736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3291840"/>
            <a:ext cx="17373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Reason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0" y="3931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BF2"/>
                </a:solidFill>
              </a:rPr>
              <a:t>AI Legal Logic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173736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91840"/>
            <a:ext cx="17373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</a:rPr>
              <a:t>Map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09160" y="3931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BF2"/>
                </a:solidFill>
              </a:rPr>
              <a:t>Knowledge Graph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291840"/>
            <a:ext cx="1737360" cy="1371600"/>
          </a:xfrm>
          <a:prstGeom prst="rect">
            <a:avLst/>
          </a:prstGeom>
          <a:solidFill>
            <a:srgbClr val="1A3A6B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3291840"/>
            <a:ext cx="17373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Predict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75120" y="3931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BF2"/>
                </a:solidFill>
              </a:rPr>
              <a:t>Future Rulings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CORE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Five Pillars of Legal Intelligence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5176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26517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Conflict Detection Engine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NLP-powered semantic analysis identifies opposing constitutional provisions using FAISS vector similarity.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6517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Legal Knowledge Graph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Neo4j graph database maps Article-to-Case-to-Judgment relationships with 10,000+ nodes.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5176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801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1280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Intelligence System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Retrieval-Augmented Generation surfaces relevant precedents, reasoning patterns &amp; dissents.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154680"/>
            <a:ext cx="425196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154680"/>
            <a:ext cx="4251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291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Legal Assistant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379476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GPT-4 powered conversational interface for legal Q&amp;A, conflict analysis, and interpretation.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3154680"/>
            <a:ext cx="425196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3154680"/>
            <a:ext cx="4251960" cy="54864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291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97A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Future Conflict Prediction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7800" y="379476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ML models trained on historical judgment patterns to predict constitutional conflict probability.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CASE DEMONSTRATIONS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Three Cases That Defined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3749040"/>
          </a:xfrm>
          <a:prstGeom prst="rect">
            <a:avLst/>
          </a:prstGeom>
          <a:solidFill>
            <a:srgbClr val="1A3A6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88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Shah Bano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(1985)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5960" y="1234440"/>
            <a:ext cx="987552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25272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Landmark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0392B"/>
                </a:solidFill>
              </a:rPr>
              <a:t>ARTICLES IN CONFLICT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9768" y="2084832"/>
            <a:ext cx="2523744" cy="457200"/>
          </a:xfrm>
          <a:prstGeom prst="rect">
            <a:avLst/>
          </a:prstGeom>
          <a:solidFill>
            <a:srgbClr val="091226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 125 CrPC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Personal Law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63347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CONFLICT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285292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Muslim woman's right to maintenance clashed with Muslim Personal Law provisions.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345643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OUTCOME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36393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SC upheld maintenance. Parliament passed Muslim Women Act 1986 to override ruling.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42702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0392B"/>
                </a:solidFill>
              </a:rPr>
              <a:t>↳ Ignited UCC debate. Political firestorm. PM Rajiv Gandhi reversed SC with legislation.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1A3A6B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188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Sabarimala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(2018)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234440"/>
            <a:ext cx="987552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25272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4-1 Split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1012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ARTICLES IN CONFLICT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10128" y="2084832"/>
            <a:ext cx="2523744" cy="457200"/>
          </a:xfrm>
          <a:prstGeom prst="rect">
            <a:avLst/>
          </a:prstGeom>
          <a:solidFill>
            <a:srgbClr val="091226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1031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 25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 14 + 15(1)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263347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CONFLICT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10128" y="285292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Temple tradition excluding women aged 10-50 challenged as discriminatory.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345643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OUTCOME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10128" y="36393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4-1 SC majority struck down ban. Massive protests. Kerala governance crisis followed.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0128" y="42702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</a:rPr>
              <a:t>↳ Redefined the scope of 'essential religious practice' doctrine in constitutional law.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80760" y="1097280"/>
            <a:ext cx="2743200" cy="3749040"/>
          </a:xfrm>
          <a:prstGeom prst="rect">
            <a:avLst/>
          </a:prstGeom>
          <a:solidFill>
            <a:srgbClr val="1A3A6B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097280"/>
            <a:ext cx="2743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1188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Triple Talaq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(2017)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26680" y="1234440"/>
            <a:ext cx="987552" cy="32004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1252728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3-2 Split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90488" y="18288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90D9"/>
                </a:solidFill>
              </a:rPr>
              <a:t>ARTICLES IN CONFLICT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90488" y="2084832"/>
            <a:ext cx="2523744" cy="457200"/>
          </a:xfrm>
          <a:prstGeom prst="rect">
            <a:avLst/>
          </a:prstGeom>
          <a:solidFill>
            <a:srgbClr val="091226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1031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 25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Art. 14 + 21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0488" y="263347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CONFLICT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90488" y="285292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Shayara Bano: Instant divorce practice challenged as violating dignity and equality.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5643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899BB"/>
                </a:solidFill>
              </a:rPr>
              <a:t>OUTCOME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90488" y="3639312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5-judge bench: 3-2 declared Triple Talaq unconstitutional. Three separate opinions.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90488" y="427024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90D9"/>
                </a:solidFill>
              </a:rPr>
              <a:t>↳ Led to Muslim Women (Protection) Act 2019. Criminalised triple talaq.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on Real Infrastructure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256032"/>
          </a:xfrm>
          <a:prstGeom prst="rect">
            <a:avLst/>
          </a:prstGeom>
          <a:solidFill>
            <a:srgbClr val="091226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91640" y="1069848"/>
            <a:ext cx="1261872" cy="219456"/>
          </a:xfrm>
          <a:prstGeom prst="rect">
            <a:avLst/>
          </a:prstGeom>
          <a:solidFill>
            <a:srgbClr val="1A3A6B"/>
          </a:solidFill>
          <a:ln w="6350">
            <a:solidFill>
              <a:srgbClr val="225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078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BF2"/>
                </a:solidFill>
              </a:rPr>
              <a:t>Indian Kanoon (Web Scraping)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063240" y="1069848"/>
            <a:ext cx="1261872" cy="219456"/>
          </a:xfrm>
          <a:prstGeom prst="rect">
            <a:avLst/>
          </a:prstGeom>
          <a:solidFill>
            <a:srgbClr val="1A3A6B"/>
          </a:solidFill>
          <a:ln w="6350">
            <a:solidFill>
              <a:srgbClr val="225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078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BF2"/>
                </a:solidFill>
              </a:rPr>
              <a:t>Supreme Court DB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434840" y="1069848"/>
            <a:ext cx="1261872" cy="219456"/>
          </a:xfrm>
          <a:prstGeom prst="rect">
            <a:avLst/>
          </a:prstGeom>
          <a:solidFill>
            <a:srgbClr val="1A3A6B"/>
          </a:solidFill>
          <a:ln w="6350">
            <a:solidFill>
              <a:srgbClr val="225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078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BF2"/>
                </a:solidFill>
              </a:rPr>
              <a:t>Constitution Text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806440" y="1069848"/>
            <a:ext cx="1261872" cy="219456"/>
          </a:xfrm>
          <a:prstGeom prst="rect">
            <a:avLst/>
          </a:prstGeom>
          <a:solidFill>
            <a:srgbClr val="1A3A6B"/>
          </a:solidFill>
          <a:ln w="6350">
            <a:solidFill>
              <a:srgbClr val="2255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1078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BF2"/>
                </a:solidFill>
              </a:rPr>
              <a:t>Gazette PDFs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178040" y="1069848"/>
            <a:ext cx="1261872" cy="219456"/>
          </a:xfrm>
          <a:prstGeom prst="rect">
            <a:avLst/>
          </a:prstGeom>
          <a:solidFill>
            <a:srgbClr val="1A3A6B"/>
          </a:solidFill>
          <a:ln w="6350">
            <a:solidFill>
              <a:srgbClr val="225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1078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BF2"/>
                </a:solidFill>
              </a:rPr>
              <a:t>Law Commission Reports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0" y="1307592"/>
            <a:ext cx="0" cy="18288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1417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627632"/>
            <a:ext cx="8595360" cy="548640"/>
          </a:xfrm>
          <a:prstGeom prst="rect">
            <a:avLst/>
          </a:prstGeom>
          <a:solidFill>
            <a:srgbClr val="091226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645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90D9"/>
                </a:solidFill>
              </a:rPr>
              <a:t>NLP PIPELINE  (pipeline/)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1847088"/>
            <a:ext cx="1572768" cy="292608"/>
          </a:xfrm>
          <a:prstGeom prst="rect">
            <a:avLst/>
          </a:prstGeom>
          <a:solidFill>
            <a:srgbClr val="2255A4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185623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PDF Extractor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(pdfplumber)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011680" y="1847088"/>
            <a:ext cx="1572768" cy="292608"/>
          </a:xfrm>
          <a:prstGeom prst="rect">
            <a:avLst/>
          </a:prstGeom>
          <a:solidFill>
            <a:srgbClr val="2255A4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185623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OCR Engine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(pytesseract)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703320" y="1847088"/>
            <a:ext cx="1572768" cy="292608"/>
          </a:xfrm>
          <a:prstGeom prst="rect">
            <a:avLst/>
          </a:prstGeom>
          <a:solidFill>
            <a:srgbClr val="2255A4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185623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BeautifulSoup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Parser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0" y="1847088"/>
            <a:ext cx="1572768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185623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Sentence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Transformers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086600" y="1847088"/>
            <a:ext cx="1572768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4888" y="185623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FAISS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Vector Index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0" y="2176272"/>
            <a:ext cx="0" cy="18288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22860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496312"/>
            <a:ext cx="8595360" cy="914400"/>
          </a:xfrm>
          <a:prstGeom prst="rect">
            <a:avLst/>
          </a:prstGeom>
          <a:solidFill>
            <a:srgbClr val="09122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INTELLIGENCE CORE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2761488"/>
            <a:ext cx="157276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2779776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conflict_engine/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Conflict Detector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8328" y="30906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0392B"/>
                </a:solidFill>
              </a:rPr>
              <a:t>Semantic conflict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C0392B"/>
                </a:solidFill>
              </a:rPr>
              <a:t>detection via FAISS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011680" y="2761488"/>
            <a:ext cx="157276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2779776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graph/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Neo4j KG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029968" y="30906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9A84C"/>
                </a:solidFill>
              </a:rPr>
              <a:t>Articles ↔ Cases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C9A84C"/>
                </a:solidFill>
              </a:rPr>
              <a:t>relationship graph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703320" y="2761488"/>
            <a:ext cx="157276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21608" y="2779776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rag_assistance/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RAG System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21608" y="30906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90D9"/>
                </a:solidFill>
              </a:rPr>
              <a:t>GPT-4 + FAISS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90D9"/>
                </a:solidFill>
              </a:rPr>
              <a:t>case retrieval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394960" y="2761488"/>
            <a:ext cx="157276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13248" y="2779776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case_intelligence/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Case Analyzer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13248" y="30906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7AE60"/>
                </a:solidFill>
              </a:rPr>
              <a:t>Judgment parsing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7AE60"/>
                </a:solidFill>
              </a:rPr>
              <a:t>&amp; precedent mapping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086600" y="2761488"/>
            <a:ext cx="1572768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04888" y="2779776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prediction/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ML Predictor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104888" y="30906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8C97A"/>
                </a:solidFill>
              </a:rPr>
              <a:t>Conflict probability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E8C97A"/>
                </a:solidFill>
              </a:rPr>
              <a:t>forecasting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572000" y="3410712"/>
            <a:ext cx="0" cy="18288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2272" y="35204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730752"/>
            <a:ext cx="4160520" cy="594360"/>
          </a:xfrm>
          <a:prstGeom prst="rect">
            <a:avLst/>
          </a:prstGeom>
          <a:solidFill>
            <a:srgbClr val="091226"/>
          </a:solidFill>
          <a:ln w="10160">
            <a:solidFill>
              <a:srgbClr val="2255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90D9"/>
                </a:solidFill>
              </a:rPr>
              <a:t>FastAPI BACKEND  (api/)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47472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Uvicorn · SQLAlchemy (asyncio) · Prometheus · OpenTelemetry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09160" y="3730752"/>
            <a:ext cx="4160520" cy="594360"/>
          </a:xfrm>
          <a:prstGeom prst="rect">
            <a:avLst/>
          </a:prstGeom>
          <a:solidFill>
            <a:srgbClr val="091226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7AE60"/>
                </a:solidFill>
              </a:rPr>
              <a:t>STORAGE LAYER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773168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PostgreSQL (asyncpg) · Neo4j Graph · FAISS Vector Store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SYSTEM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Query to Constitutional Intelligence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64208" y="1874520"/>
            <a:ext cx="11887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Query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Natural language input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by lawyer / researcher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9816" y="1874520"/>
            <a:ext cx="11887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92808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92808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55648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55648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Sentence transformers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create semantic vectors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35424" y="1874520"/>
            <a:ext cx="11887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25696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28416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28416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91256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Conflict Detection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91256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FAISS similarity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maps opposing articles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71032" y="1874520"/>
            <a:ext cx="11887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64024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64024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26864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Case Mapping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26864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Neo4j graph traversal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finds relevant precedents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06640" y="1874520"/>
            <a:ext cx="11887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E8C97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99632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97A"/>
                </a:solidFill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62472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+ LLM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62472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GPT-4 reasons over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retrieved case context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1188720"/>
            <a:ext cx="1005840" cy="1005840"/>
          </a:xfrm>
          <a:prstGeom prst="ellipse">
            <a:avLst/>
          </a:prstGeom>
          <a:solidFill>
            <a:srgbClr val="1A3A6B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3524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</a:rPr>
              <a:t>06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9808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Structured Output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Conflict analysis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case intelligence report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429000"/>
            <a:ext cx="8229600" cy="1417320"/>
          </a:xfrm>
          <a:prstGeom prst="rect">
            <a:avLst/>
          </a:prstGeom>
          <a:solidFill>
            <a:srgbClr val="091226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4930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EXAMPLE QUERY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9436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BF2"/>
                </a:solidFill>
              </a:rPr>
              <a:t>"Analyze the conflict between religious freedom (Article 25) and gender equality (Article 14) in the context of temple entry rights"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" y="4224528"/>
            <a:ext cx="7772400" cy="0"/>
          </a:xfrm>
          <a:prstGeom prst="line">
            <a:avLst/>
          </a:prstGeom>
          <a:noFill/>
          <a:ln w="6350">
            <a:solidFill>
              <a:srgbClr val="2255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C97A"/>
                </a:solidFill>
              </a:rPr>
              <a:t>→ System detects: Art. 25 vs Art. 14 conflict  |  Retrieves: Sabarimala (2018), Shirur Mutt (1954), Dargah Committee (1961)  |  Outputs: 3-layer conflict analysis + predictive ruling probability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INNOVATION &amp; USP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Makes This Different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840480" cy="3611880"/>
          </a:xfrm>
          <a:prstGeom prst="rect">
            <a:avLst/>
          </a:prstGeom>
          <a:solidFill>
            <a:srgbClr val="0D1A2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⬅  OTHERS DO THIS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Return keyword-matched documents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Rely on boolean search operators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Show all results with equal ranking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Require users to read 100s of cases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No understanding of legal context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✗  No cross-article relationship mapping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1097280"/>
            <a:ext cx="3840480" cy="3611880"/>
          </a:xfrm>
          <a:prstGeom prst="rect">
            <a:avLst/>
          </a:prstGeom>
          <a:solidFill>
            <a:srgbClr val="0A1A0E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DO THIS  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Reason over constitutional meaning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2121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Detect semantic conflicts between articles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7492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Graph-traversed precedent intelligence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307238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Single synthesized conflict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LLM reasoning grounded in case law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2"/>
                </a:solidFill>
              </a:rPr>
              <a:t>✓  Predict future ruling patterns with 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33088" y="2514600"/>
            <a:ext cx="877824" cy="877824"/>
          </a:xfrm>
          <a:prstGeom prst="ellipse">
            <a:avLst/>
          </a:prstGeom>
          <a:solidFill>
            <a:srgbClr val="C9A84C"/>
          </a:solidFill>
          <a:ln w="25400">
            <a:solidFill>
              <a:srgbClr val="E8C9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33088" y="2514600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VS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Road Ahead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97A"/>
                </a:solidFill>
              </a:rPr>
              <a:t>Legal AI is just beginning. Constitutional intelligence is next.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60520" cy="1572768"/>
          </a:xfrm>
          <a:prstGeom prst="rect">
            <a:avLst/>
          </a:prstGeom>
          <a:solidFill>
            <a:srgbClr val="1A3A6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41605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1 — Now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15727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✅ Built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Conflict Detection Engine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32888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RAG Legal Assistant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450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Neo4j Knowledge Graph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32888" y="2450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FastAPI Backend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4160520" cy="1572768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463040"/>
            <a:ext cx="4160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572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2 — 6 Months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89520" y="157276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</a:rPr>
              <a:t>🔨 In Progress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8888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Advanced ML Conflict Predictor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76288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High Court Judgment Integration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2450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Multi-language Support (Hindi)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76288" y="2450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Streamlit/React UI Dashboard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4160520" cy="1572768"/>
          </a:xfrm>
          <a:prstGeom prst="rect">
            <a:avLst/>
          </a:prstGeom>
          <a:solidFill>
            <a:srgbClr val="1A3A6B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00400"/>
            <a:ext cx="41605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Phase 3 — 12 Months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331012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📋 Planned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AI Policy Impact Analyzer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32888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Constitutional Amendment Tracker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Judicial Bias Detection Module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32888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API for Law Firms &amp; Universities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3200400"/>
            <a:ext cx="4160520" cy="1572768"/>
          </a:xfrm>
          <a:prstGeom prst="rect">
            <a:avLst/>
          </a:prstGeom>
          <a:solidFill>
            <a:srgbClr val="1A3A6B"/>
          </a:solidFill>
          <a:ln w="12700">
            <a:solidFill>
              <a:srgbClr val="E8C9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200400"/>
            <a:ext cx="4160520" cy="54864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Global Vision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89520" y="3310128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97A"/>
                </a:solidFill>
              </a:rPr>
              <a:t>🌍 Future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Comparative Constitutional AI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76288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UN Human Rights Law Conflict Map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18888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AI Governance Framework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76288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Open-source Legal AI Platform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PROJECT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What's Already Built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200400" cy="3657600"/>
          </a:xfrm>
          <a:prstGeom prst="rect">
            <a:avLst/>
          </a:prstGeom>
          <a:solidFill>
            <a:srgbClr val="1A3A6B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3200400" cy="347472"/>
          </a:xfrm>
          <a:prstGeom prst="rect">
            <a:avLst/>
          </a:prstGeom>
          <a:solidFill>
            <a:srgbClr val="2255A4"/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1556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📁  Repository 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conflict_engine/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536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Conflict detection using FAISS + NLP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9751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</a:rPr>
              <a:t>graph/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74520" y="1975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Neo4j knowledge graph builder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414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0D9"/>
                </a:solidFill>
              </a:rPr>
              <a:t>rag_assistance/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74520" y="24140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RAG pipeline with GPT-4 integration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case_intelligence/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74520" y="28529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Case parsing and precedent mapping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C97A"/>
                </a:solidFill>
              </a:rPr>
              <a:t>prediction/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7452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ML-based conflict forecasting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BB"/>
                </a:solidFill>
              </a:rPr>
              <a:t>pipeline/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74520" y="3730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Data ingestion: PDF, OCR, scraping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169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0D9"/>
                </a:solidFill>
              </a:rPr>
              <a:t>api/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74520" y="416966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FastAPI RESTful backend services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49040" y="1097280"/>
            <a:ext cx="5029200" cy="3657600"/>
          </a:xfrm>
          <a:prstGeom prst="rect">
            <a:avLst/>
          </a:prstGeom>
          <a:solidFill>
            <a:srgbClr val="09122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1097280"/>
            <a:ext cx="50292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115568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⚡  Tech Stack (from requirements.txt)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22192" y="1508760"/>
            <a:ext cx="4846320" cy="566928"/>
          </a:xfrm>
          <a:prstGeom prst="rect">
            <a:avLst/>
          </a:prstGeom>
          <a:solidFill>
            <a:srgbClr val="1A3A6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5361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90D9"/>
                </a:solidFill>
              </a:rPr>
              <a:t>AI &amp; Embeddings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1920" y="179222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OpenAI GPT-4 · Sentence-Transformers · FAISS-CPU · Scikit-learn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22192" y="2148840"/>
            <a:ext cx="4846320" cy="566928"/>
          </a:xfrm>
          <a:prstGeom prst="rect">
            <a:avLst/>
          </a:prstGeom>
          <a:solidFill>
            <a:srgbClr val="1A3A6B"/>
          </a:solidFill>
          <a:ln w="1016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4C"/>
                </a:solidFill>
              </a:rPr>
              <a:t>Graph &amp; Database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31920" y="24323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Neo4j 5.20 · PostgreSQL (asyncpg) · SQLAlchemy Async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22192" y="2788920"/>
            <a:ext cx="4846320" cy="566928"/>
          </a:xfrm>
          <a:prstGeom prst="rect">
            <a:avLst/>
          </a:prstGeom>
          <a:solidFill>
            <a:srgbClr val="1A3A6B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2816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API &amp; Backend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31920" y="30723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FastAPI 0.111 · Uvicorn · Pydantic v2 · Python-Multipart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22192" y="3429000"/>
            <a:ext cx="4846320" cy="566928"/>
          </a:xfrm>
          <a:prstGeom prst="rect">
            <a:avLst/>
          </a:prstGeom>
          <a:solidFill>
            <a:srgbClr val="1A3A6B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3456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Data Ingestion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31920" y="37124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pdfplumber · pytesseract OCR · BeautifulSoup4 · aiohttp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22192" y="4069080"/>
            <a:ext cx="4846320" cy="566928"/>
          </a:xfrm>
          <a:prstGeom prst="rect">
            <a:avLst/>
          </a:prstGeom>
          <a:solidFill>
            <a:srgbClr val="1A3A6B"/>
          </a:solidFill>
          <a:ln w="10160">
            <a:solidFill>
              <a:srgbClr val="E8C9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40965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C97A"/>
                </a:solidFill>
              </a:rPr>
              <a:t>Observability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31920" y="43525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BF2"/>
                </a:solidFill>
              </a:rPr>
              <a:t>structlog · Prometheus · OpenTelemetry SDK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64592"/>
            <a:ext cx="4572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REAL-WORLD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Who Benefits &amp; How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206240" cy="1783080"/>
          </a:xfrm>
          <a:prstGeom prst="rect">
            <a:avLst/>
          </a:prstGeom>
          <a:solidFill>
            <a:srgbClr val="1A3A6B"/>
          </a:solidFill>
          <a:ln w="1524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4206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07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⚖️  Lawyers &amp; Advocates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10x Faster Research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Instant conflict maps for constitutional cases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Case precedent retrieval in seconds not hours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AI-assisted argument structuring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633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1.3M+ practicing lawyers in India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1A3A6B"/>
          </a:solidFill>
          <a:ln w="1524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206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207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🏛️  Judiciary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Consistency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Flags inter-court inconsistencies automatically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64608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Assists law clerks in bench preparation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64608" y="2487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Reduces judgment drafting time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64608" y="2633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25 High Courts + Supreme Court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1A3A6B"/>
          </a:solidFill>
          <a:ln w="1524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63240"/>
            <a:ext cx="4206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172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Policy Makers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Pre-enactment Conflict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867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Tests new bills against existing rights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9768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Models societal impact before legislation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9768" y="4453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Constitutional compatibility scoring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" y="45994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Parliament + State Assemblies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206240" cy="1783080"/>
          </a:xfrm>
          <a:prstGeom prst="rect">
            <a:avLst/>
          </a:prstGeom>
          <a:solidFill>
            <a:srgbClr val="1A3A6B"/>
          </a:solidFill>
          <a:ln w="15240">
            <a:solidFill>
              <a:srgbClr val="E8C9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63240"/>
            <a:ext cx="4206240" cy="64008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172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Legal Education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</a:rPr>
              <a:t>AI Legal Tutor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867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Interactive constitutional learning platform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64608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Case-based reasoning for law students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4453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BF2"/>
                </a:solidFill>
              </a:rPr>
              <a:t>▸ Research tool for legal academia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45994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BB"/>
                </a:solidFill>
              </a:rPr>
              <a:t>1,700+ law schools in India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A3A6B">
              <a:alpha val="2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2255A4">
              <a:alpha val="15000"/>
            </a:srgbClr>
          </a:solidFill>
          <a:ln w="12700">
            <a:solidFill>
              <a:srgbClr val="2255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</a:rPr>
              <a:t>"The law is not static."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8961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</a:rPr>
              <a:t>Neither should be our tools to understand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45720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99BB"/>
                </a:solidFill>
              </a:rPr>
              <a:t>FROM LEGAL SEARCH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LEGAL INTELLIGENCE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286000" y="2606040"/>
            <a:ext cx="45720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</a:rPr>
              <a:t>AI Constitutional Conflict Analyzer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</a:rPr>
              <a:t>github.com/prachikumari-cell/ailegalassistance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3886200"/>
            <a:ext cx="457200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0" y="3886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0E1A"/>
                </a:solidFill>
              </a:rPr>
              <a:t>Because Justice Cannot Wait for a Ctrl+F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Constitutional Conflict Analyzer</dc:title>
  <dc:subject>PptxGenJS Presentation</dc:subject>
  <dc:creator>AI Constitutional Conflict Analyzer</dc:creator>
  <cp:lastModifiedBy>AI Constitutional Conflict Analyzer</cp:lastModifiedBy>
  <cp:revision>1</cp:revision>
  <dcterms:created xsi:type="dcterms:W3CDTF">2026-04-10T18:28:24Z</dcterms:created>
  <dcterms:modified xsi:type="dcterms:W3CDTF">2026-04-10T18:28:24Z</dcterms:modified>
</cp:coreProperties>
</file>